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BD7"/>
    <a:srgbClr val="286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(₦M)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1A1A2E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Ibadan</c:v>
                </c:pt>
                <c:pt idx="1">
                  <c:v>Port Harcourt</c:v>
                </c:pt>
                <c:pt idx="2">
                  <c:v>Abuja</c:v>
                </c:pt>
                <c:pt idx="3">
                  <c:v>Lagos</c:v>
                </c:pt>
                <c:pt idx="4">
                  <c:v>Kano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394.7</c:v>
                </c:pt>
                <c:pt idx="1">
                  <c:v>388.4</c:v>
                </c:pt>
                <c:pt idx="2">
                  <c:v>384.5</c:v>
                </c:pt>
                <c:pt idx="3">
                  <c:v>381.3</c:v>
                </c:pt>
                <c:pt idx="4">
                  <c:v>377.3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A8-4FF6-BCD4-CE46DE29B9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374151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(₦M)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972-4F33-8BB4-ECA66B5F5D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E972-4F33-8BB4-ECA66B5F5D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972-4F33-8BB4-ECA66B5F5D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E972-4F33-8BB4-ECA66B5F5D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72-4F33-8BB4-ECA66B5F5D1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1A1A2E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Ibadan</c:v>
                </c:pt>
                <c:pt idx="1">
                  <c:v>Port Harcourt</c:v>
                </c:pt>
                <c:pt idx="2">
                  <c:v>Abuja</c:v>
                </c:pt>
                <c:pt idx="3">
                  <c:v>Lagos</c:v>
                </c:pt>
                <c:pt idx="4">
                  <c:v>Kano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156.1</c:v>
                </c:pt>
                <c:pt idx="1">
                  <c:v>165.3</c:v>
                </c:pt>
                <c:pt idx="2">
                  <c:v>150.69999999999999</c:v>
                </c:pt>
                <c:pt idx="3">
                  <c:v>164</c:v>
                </c:pt>
                <c:pt idx="4">
                  <c:v>135.69999999999999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2-4F33-8BB4-ECA66B5F5D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374151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(₦M)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1A1A2E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Furniture</c:v>
                </c:pt>
                <c:pt idx="1">
                  <c:v>Office</c:v>
                </c:pt>
                <c:pt idx="2">
                  <c:v>Home</c:v>
                </c:pt>
                <c:pt idx="3">
                  <c:v>Electronics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629.79999999999995</c:v>
                </c:pt>
                <c:pt idx="1">
                  <c:v>492.6</c:v>
                </c:pt>
                <c:pt idx="2">
                  <c:v>425.9</c:v>
                </c:pt>
                <c:pt idx="3">
                  <c:v>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0B-43ED-8E5B-B963AE67B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(₦M)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1A1A2E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Furniture</c:v>
                </c:pt>
                <c:pt idx="1">
                  <c:v>Office</c:v>
                </c:pt>
                <c:pt idx="2">
                  <c:v>Home</c:v>
                </c:pt>
                <c:pt idx="3">
                  <c:v>Electronics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234.7</c:v>
                </c:pt>
                <c:pt idx="1">
                  <c:v>223.7</c:v>
                </c:pt>
                <c:pt idx="2">
                  <c:v>147.6</c:v>
                </c:pt>
                <c:pt idx="3">
                  <c:v>165.8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0B-43ED-8E5B-B963AE67BC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374151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98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B07BD7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</p:sp>
      <p:sp>
        <p:nvSpPr>
          <p:cNvPr id="4" name="Shape 2"/>
          <p:cNvSpPr/>
          <p:nvPr/>
        </p:nvSpPr>
        <p:spPr>
          <a:xfrm>
            <a:off x="10789920" y="4754880"/>
            <a:ext cx="2926080" cy="2926080"/>
          </a:xfrm>
          <a:prstGeom prst="ellipse">
            <a:avLst/>
          </a:prstGeom>
          <a:solidFill>
            <a:srgbClr val="B07BD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end-to-end Excel analysis: data cleaning, formulas, pivot tables, visualization, and an executive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Oyinkansola Adeola Matesun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 generated ₦1.93 billion in sales across 5,000 orders in 2025, with a healthy 40% profit margin. Performance is broadly consistent across regions and categories, with Furniture and Port Harcourt standing out as strong performers, and Kano and Electronics identified as priority areas for improvement.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₦1.93B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3108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₦771.8M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3172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3108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3108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9788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123444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7030A0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83880" y="19659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findings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areas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 Retail Sales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Ibadan leads in sales, but Port Harcourt converts better into profit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69195149"/>
              </p:ext>
            </p:extLst>
          </p:nvPr>
        </p:nvGraphicFramePr>
        <p:xfrm>
          <a:off x="457200" y="187452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REGION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505413112"/>
              </p:ext>
            </p:extLst>
          </p:nvPr>
        </p:nvGraphicFramePr>
        <p:xfrm>
          <a:off x="6217920" y="187452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 Retail Sales Analysis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leads on every measure; Electronics is the clear laggard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94455098"/>
              </p:ext>
            </p:extLst>
          </p:nvPr>
        </p:nvGraphicFramePr>
        <p:xfrm>
          <a:off x="548640" y="1554480"/>
          <a:ext cx="7680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554480"/>
            <a:ext cx="3108960" cy="4480560"/>
          </a:xfrm>
          <a:prstGeom prst="roundRect">
            <a:avLst>
              <a:gd name="adj" fmla="val 2941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78240" y="21488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drives ₦629.8M in sales and the highest profit (₦234.7M). Electronics trails in sales at ₦378M, warranting investigation into pricing, competition, or awareness gaps.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 Retail Sales Analysis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PrimeMart Is Losing Ground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365760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Kano underperforms on every metric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sales (₦377.3M), lowest profit (₦135.7M), and a 9% return rate — above the 8.12% company average.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55448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554480"/>
            <a:ext cx="365760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14813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is the weakest category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0574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sales of all four categories at ₦378M, despite reasonable profit margins — points to a demand or awareness problem, not a cost problem.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31920"/>
            <a:ext cx="365760" cy="3657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365760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8587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category returns run slightly high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4348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return rate versus 8% elsewhere — small, but consistent enough to warrant a root-cause check.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931920"/>
            <a:ext cx="365760" cy="365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38587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rep targets don’t reflect real performance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4348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sales vastly exceed rep targets across the board, suggesting targets are set on a different time basis (e.g. monthly) than they’re measured — a data governance issue, not a rep performance one.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 Retail Sales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solidFill>
            <a:srgbClr val="B07BD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573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B07B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Kano directly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regional review — pricing, local competition, rep coverage — to understand the sales, profit, and return gaps versus other regions.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B07BD7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4652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Reassess Electronics positioning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4505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pricing and promotion changes in Electronics before assuming it's a permanently weak category.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B07BD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Home category returns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64515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return reasons specifically logged for Home products to find a fixable root cause.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4747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B07B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46520" y="4206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target-setting methodology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64515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whether SalesRep targets are monthly or annual before using them for performance evaluation.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 Retail Sales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Opportunities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shows the clearest upside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FURNITURE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07B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₦629.8M</a:t>
            </a:r>
            <a:endParaRPr lang="en-US" sz="3400" dirty="0">
              <a:solidFill>
                <a:srgbClr val="B07BD7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AND highest profit category — expand catalog depth and marketing spend here first.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344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PORT HARCOURT'S MARGIN MIX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07B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₦165.3M</a:t>
            </a:r>
            <a:endParaRPr lang="en-US" sz="3400" dirty="0">
              <a:solidFill>
                <a:srgbClr val="B07BD7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35661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of any region despite second-place sales -  study what's driving better margins there.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392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CUSTOMER BASE, NOT JUST SEGMENTS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07B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₦6.4M</a:t>
            </a:r>
            <a:endParaRPr lang="en-US" sz="3400" dirty="0">
              <a:solidFill>
                <a:srgbClr val="B07BD7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35661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 is nearly identical (~₦6.4M) across Consumer, SME, and Corporate — acquisition, not segment-shifting, is the lever.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PrimeMart Retail Sales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B07BD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regional and category dashboard with operations leads for direct feedback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Kano-specific performance review within the next reporting cycle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sales rep target methodology before next quarter's reviews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this analysis quarterly to track movement on flagged categories and regions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Oyinkansola Adeola Matesun  •  primemart-retail-excel-analysis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600</Words>
  <Application>Microsoft Office PowerPoint</Application>
  <PresentationFormat>Widescreen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Oyinkansola Matesun</cp:lastModifiedBy>
  <cp:revision>2</cp:revision>
  <dcterms:created xsi:type="dcterms:W3CDTF">2026-07-21T11:11:50Z</dcterms:created>
  <dcterms:modified xsi:type="dcterms:W3CDTF">2026-07-21T11:38:27Z</dcterms:modified>
</cp:coreProperties>
</file>